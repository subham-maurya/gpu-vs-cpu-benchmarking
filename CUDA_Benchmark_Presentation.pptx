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ham Maurya" userId="ab036c863b2d84ad" providerId="LiveId" clId="{EC662DDC-6993-409D-85BB-BB0AB95FE185}"/>
    <pc:docChg chg="custSel modSld">
      <pc:chgData name="Subham Maurya" userId="ab036c863b2d84ad" providerId="LiveId" clId="{EC662DDC-6993-409D-85BB-BB0AB95FE185}" dt="2026-04-18T12:11:51.725" v="9" actId="478"/>
      <pc:docMkLst>
        <pc:docMk/>
      </pc:docMkLst>
      <pc:sldChg chg="delSp modSp mod">
        <pc:chgData name="Subham Maurya" userId="ab036c863b2d84ad" providerId="LiveId" clId="{EC662DDC-6993-409D-85BB-BB0AB95FE185}" dt="2026-04-18T12:11:51.725" v="9" actId="478"/>
        <pc:sldMkLst>
          <pc:docMk/>
          <pc:sldMk cId="0" sldId="256"/>
        </pc:sldMkLst>
        <pc:spChg chg="mod">
          <ac:chgData name="Subham Maurya" userId="ab036c863b2d84ad" providerId="LiveId" clId="{EC662DDC-6993-409D-85BB-BB0AB95FE185}" dt="2026-04-18T12:11:43.529" v="8" actId="20577"/>
          <ac:spMkLst>
            <pc:docMk/>
            <pc:sldMk cId="0" sldId="256"/>
            <ac:spMk id="11" creationId="{00000000-0000-0000-0000-000000000000}"/>
          </ac:spMkLst>
        </pc:spChg>
        <pc:spChg chg="del">
          <ac:chgData name="Subham Maurya" userId="ab036c863b2d84ad" providerId="LiveId" clId="{EC662DDC-6993-409D-85BB-BB0AB95FE185}" dt="2026-04-18T12:11:51.725" v="9" actId="478"/>
          <ac:spMkLst>
            <pc:docMk/>
            <pc:sldMk cId="0" sldId="256"/>
            <ac:spMk id="1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3A5F"/>
                </a:solidFill>
                <a:latin typeface="Arial"/>
              </a:rPr>
              <a:t>1D Benchmarks at 16M Elements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(ms)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3A5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Vec Add</c:v>
                </c:pt>
                <c:pt idx="1">
                  <c:v>SAXPY</c:v>
                </c:pt>
                <c:pt idx="2">
                  <c:v>Reduction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125.6</c:v>
                </c:pt>
                <c:pt idx="1">
                  <c:v>131</c:v>
                </c:pt>
                <c:pt idx="2">
                  <c:v>159.5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DD-4247-BCB0-BE3C1C0C61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GPU (ms)</c:v>
                </c:pt>
              </c:strCache>
            </c:strRef>
          </c:tx>
          <c:spPr>
            <a:solidFill>
              <a:srgbClr val="00C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3A5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Vec Add</c:v>
                </c:pt>
                <c:pt idx="1">
                  <c:v>SAXPY</c:v>
                </c:pt>
                <c:pt idx="2">
                  <c:v>Reduction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1.07</c:v>
                </c:pt>
                <c:pt idx="1">
                  <c:v>1.18</c:v>
                </c:pt>
                <c:pt idx="2">
                  <c:v>1.42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DD-4247-BCB0-BE3C1C0C61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1E3A5F"/>
                </a:solidFill>
                <a:latin typeface="Arial"/>
              </a:rPr>
              <a:t>Matrix Multiply — CPU vs GPU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(ms)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3A5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64×64</c:v>
                </c:pt>
                <c:pt idx="1">
                  <c:v>128×128</c:v>
                </c:pt>
                <c:pt idx="2">
                  <c:v>256×256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1.6</c:v>
                </c:pt>
                <c:pt idx="1">
                  <c:v>13.5</c:v>
                </c:pt>
                <c:pt idx="2">
                  <c:v>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05-4F31-8015-DB1E4EA616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GPU (ms)</c:v>
                </c:pt>
              </c:strCache>
            </c:strRef>
          </c:tx>
          <c:spPr>
            <a:solidFill>
              <a:srgbClr val="00C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3A5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64×64</c:v>
                </c:pt>
                <c:pt idx="1">
                  <c:v>128×128</c:v>
                </c:pt>
                <c:pt idx="2">
                  <c:v>256×256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4.3999999999999997E-2</c:v>
                </c:pt>
                <c:pt idx="1">
                  <c:v>1.7000000000000001E-2</c:v>
                </c:pt>
                <c:pt idx="2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05-4F31-8015-DB1E4EA616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316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coursera.org/learn/cuda-advanced-libraries/home/welcom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583680" y="731520"/>
            <a:ext cx="2194560" cy="3474720"/>
          </a:xfrm>
          <a:prstGeom prst="rect">
            <a:avLst/>
          </a:prstGeom>
          <a:solidFill>
            <a:srgbClr val="1B2A3B">
              <a:alpha val="80000"/>
            </a:srgbClr>
          </a:solidFill>
          <a:ln w="12700">
            <a:solidFill>
              <a:srgbClr val="00C89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693408" y="868680"/>
            <a:ext cx="2011680" cy="3200400"/>
          </a:xfrm>
          <a:prstGeom prst="rect">
            <a:avLst/>
          </a:prstGeom>
          <a:solidFill>
            <a:srgbClr val="1B2A3B">
              <a:alpha val="72000"/>
            </a:srgbClr>
          </a:solidFill>
          <a:ln w="12700">
            <a:solidFill>
              <a:srgbClr val="00C896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03136" y="1005840"/>
            <a:ext cx="1828800" cy="2926080"/>
          </a:xfrm>
          <a:prstGeom prst="rect">
            <a:avLst/>
          </a:prstGeom>
          <a:solidFill>
            <a:srgbClr val="1B2A3B">
              <a:alpha val="64000"/>
            </a:srgbClr>
          </a:solidFill>
          <a:ln w="12700">
            <a:solidFill>
              <a:srgbClr val="00C896">
                <a:alpha val="5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912864" y="1143000"/>
            <a:ext cx="1645920" cy="2651760"/>
          </a:xfrm>
          <a:prstGeom prst="rect">
            <a:avLst/>
          </a:prstGeom>
          <a:solidFill>
            <a:srgbClr val="1B2A3B">
              <a:alpha val="56000"/>
            </a:srgbClr>
          </a:solidFill>
          <a:ln w="12700">
            <a:solidFill>
              <a:srgbClr val="00C896">
                <a:alpha val="4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022592" y="1280160"/>
            <a:ext cx="1463040" cy="2377440"/>
          </a:xfrm>
          <a:prstGeom prst="rect">
            <a:avLst/>
          </a:prstGeom>
          <a:solidFill>
            <a:srgbClr val="1B2A3B">
              <a:alpha val="48000"/>
            </a:srgbClr>
          </a:solidFill>
          <a:ln w="12700">
            <a:solidFill>
              <a:srgbClr val="00C896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132320" y="1417320"/>
            <a:ext cx="1280160" cy="2103120"/>
          </a:xfrm>
          <a:prstGeom prst="rect">
            <a:avLst/>
          </a:prstGeom>
          <a:solidFill>
            <a:srgbClr val="1B2A3B">
              <a:alpha val="4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280160"/>
            <a:ext cx="1371600" cy="1371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0972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vs CPU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502920" y="20116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3800" dirty="0"/>
          </a:p>
        </p:txBody>
      </p:sp>
      <p:sp>
        <p:nvSpPr>
          <p:cNvPr id="12" name="Shape 9"/>
          <p:cNvSpPr/>
          <p:nvPr/>
        </p:nvSpPr>
        <p:spPr>
          <a:xfrm>
            <a:off x="502920" y="2971800"/>
            <a:ext cx="32004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02920" y="3154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Advanced Libraries — Course Project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8C3"/>
                </a:solidFill>
              </a:rPr>
              <a:t>NVIDIA CUDA  •  C++ / nvcc  •  CUDA Events Timing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0604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" y="2176272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Compute-Intensive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" y="2578608"/>
            <a:ext cx="239572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operations dominate execution time — GPU cores work in massive parallel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41732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200400" y="1417320"/>
            <a:ext cx="260604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6002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2176272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Data-Parallel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10128" y="2578608"/>
            <a:ext cx="239572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operation applied independently across millions of array elements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41732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035040" y="1417320"/>
            <a:ext cx="260604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6002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44768" y="2176272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Memory-Bound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44768" y="2578608"/>
            <a:ext cx="239572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limited by bandwidth — GPU high-bandwidth memory vs. CPU caches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EBF4F1"/>
          </a:solidFill>
          <a:ln w="12700">
            <a:solidFill>
              <a:srgbClr val="C8E6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548640" y="42062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benchmarks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implemented in a single CUDA C++ file (</a:t>
            </a:r>
            <a:r>
              <a:rPr lang="en-US" sz="1200" b="1" dirty="0">
                <a:solidFill>
                  <a:srgbClr val="00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src/main.cu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compiled with </a:t>
            </a:r>
            <a:r>
              <a:rPr lang="en-US" sz="1200" b="1" dirty="0">
                <a:solidFill>
                  <a:srgbClr val="00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nvcc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Timing uses </a:t>
            </a:r>
            <a:r>
              <a:rPr lang="en-US" sz="1200" b="1" dirty="0">
                <a:solidFill>
                  <a:srgbClr val="00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std::chrono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CPU and </a:t>
            </a:r>
            <a:r>
              <a:rPr lang="en-US" sz="1200" b="1" dirty="0">
                <a:solidFill>
                  <a:srgbClr val="00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Events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GPU — ensuring high-resolution, accurate comparisons.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BENCHMARKS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Benchmarks Implemented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16002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30352" y="14813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78992" y="1536192"/>
            <a:ext cx="1188720" cy="256032"/>
          </a:xfrm>
          <a:prstGeom prst="rect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78992" y="15361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96"/>
                </a:solidFill>
              </a:rPr>
              <a:t>Basic Parallelism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30352" y="18470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Addition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21945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C[i] = A[i] + B[i]. The 'Hello World' of GPU computing — each thread computes one element independently.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023360" cy="16002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28032" y="14813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76672" y="1536192"/>
            <a:ext cx="1188720" cy="256032"/>
          </a:xfrm>
          <a:prstGeom prst="rect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376672" y="15361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96"/>
                </a:solidFill>
              </a:rPr>
              <a:t>Memory-Bound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28032" y="18470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SAXPY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8032" y="21945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Level-1 BLAS: y[i] = a·x[i] + y[i]. Memory-bound operation — bottleneck is reading/writing device memory, not compute.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4023360" cy="16002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0352" y="33101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78992" y="3364992"/>
            <a:ext cx="1188720" cy="256032"/>
          </a:xfrm>
          <a:prstGeom prst="rect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78992" y="33649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96"/>
                </a:solidFill>
              </a:rPr>
              <a:t>Shared Memory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30352" y="3675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(Sum)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" y="40233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tree-based sum using __shared__ memory (256 threads/block). Minimizes global memory access with fast intra-block reduction.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200400"/>
            <a:ext cx="4023360" cy="16002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28032" y="33101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376672" y="3364992"/>
            <a:ext cx="1188720" cy="256032"/>
          </a:xfrm>
          <a:prstGeom prst="rect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376672" y="33649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96"/>
                </a:solidFill>
              </a:rPr>
              <a:t>Compute-Intensive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28032" y="3675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Multiplication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28032" y="40233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O(N³) matmul: C[i][j] = Σ A[i][k]·B[k][j]. 2D thread layout (16×16 blocks). Highest GPU speedup due to arithmetic intensity.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Implementation Details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F0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4864" cy="1188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52704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50876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Grid-Stride Execution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856232"/>
            <a:ext cx="3273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Kernels use blockIdx.x * blockDim.x + threadIdx.x indexing with bounds checking — cleanly scales across any grid size and problem dimension.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283464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F0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65760" y="2834640"/>
            <a:ext cx="54864" cy="1188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94436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92608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Reduction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51560" y="3273552"/>
            <a:ext cx="3273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reduceSumGPU loads data into __shared__ float sdata[256], performs in-block tree reduction with __syncthreads() barriers, then writes partial sums globally.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800600" y="141732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F0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4800600" y="1417320"/>
            <a:ext cx="54864" cy="1188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1527048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0" y="150876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Events Timing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0" y="1856232"/>
            <a:ext cx="3273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cudaEventCreate, cudaEventRecord, and cudaEventElapsedTime measure GPU kernels with sub-millisecond precision on the GPU timeline, avoiding CPU-GPU sync artifacts.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800600" y="283464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F0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4800600" y="2834640"/>
            <a:ext cx="54864" cy="1188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2944368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92608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Kernels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0" y="3273552"/>
            <a:ext cx="3273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warm-up invocation runs before timing for Vector Addition, excluding CUDA context init, JIT compilation, and driver overhead for fair, reproducible measurements.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65760" y="4160520"/>
            <a:ext cx="841248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Config:  </a:t>
            </a: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= 256</a:t>
            </a: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1D kernels  |  </a:t>
            </a: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dim3(16,16)</a:t>
            </a: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2D Matrix Multiply  |  All benchmarks use </a:t>
            </a: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(FP32)</a:t>
            </a: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arithmetic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61872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532120" y="1261872"/>
          <a:ext cx="33832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096512"/>
            <a:ext cx="192024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365760" y="41148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~117×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365760" y="44622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 Add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(16M)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468880" y="4096512"/>
            <a:ext cx="192024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2468880" y="41148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~111×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2468880" y="44622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SAXPY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(16M)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572000" y="4096512"/>
            <a:ext cx="192024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4572000" y="41148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~112×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572000" y="44622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(16M)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675120" y="4096512"/>
            <a:ext cx="192024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6675120" y="41148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~461×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675120" y="44622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(256²)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6400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35331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performance scales with input size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1560" y="160934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 advantage only materializes once the workload is large enough to keep thousands of CUDA cores busy.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2029968"/>
            <a:ext cx="8412480" cy="640080"/>
          </a:xfrm>
          <a:prstGeom prst="rect">
            <a:avLst/>
          </a:prstGeom>
          <a:solidFill>
            <a:srgbClr val="1B2A3B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13969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08483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wins at small inputs (1K)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51560" y="234086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launch overhead, memory transfer latency, and CUDA context setup cost dwarf the actual computation time for tiny datasets.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761488"/>
            <a:ext cx="8412480" cy="6400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87121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281635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 shows highest speedup (461×)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51560" y="307238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arithmetic intensity (O(N³) compute vs O(N²) memory) lets thousands of GPU cores work on different output elements simultaneously.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65760" y="3493008"/>
            <a:ext cx="8412480" cy="640080"/>
          </a:xfrm>
          <a:prstGeom prst="rect">
            <a:avLst/>
          </a:prstGeom>
          <a:solidFill>
            <a:srgbClr val="1B2A3B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60273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354787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transforms reduction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51560" y="380390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data in fast on-chip shared memory before tree reduction minimizes global memory accesses and dramatically boosts throughput.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65760" y="4224528"/>
            <a:ext cx="8412480" cy="6400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334256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51560" y="42793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Memory-bound ops show moderate speedup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051560" y="453542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SAXPY reads/writes large arrays with minimal arithmetic — performance is ultimately limited by memory bandwidth, narrowing (not eliminating) the GPU advantage.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SETUP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&amp; Build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393192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GPU-Benchmarking-Project/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E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src/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└── main.cu       ← CUDA kernels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E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logs/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E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└── execution_log.txt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Makefile           ← nvcc build rule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run.sh             ← build + run + log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298448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F0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0" y="1298448"/>
            <a:ext cx="54864" cy="7132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435608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30368" y="137160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GPU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30368" y="166420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Kepler-gen or newer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0" y="2139696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F0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572000" y="2139696"/>
            <a:ext cx="54864" cy="7132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27685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30368" y="221284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Toolkit ≥ 11.x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230368" y="250545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nvcc, device libraries, headers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0" y="2980944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F0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4572000" y="2980944"/>
            <a:ext cx="54864" cy="7132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3118104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30368" y="305409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/ g++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230368" y="334670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compiler for nvcc on Linux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65760" y="4005072"/>
            <a:ext cx="841248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548640" y="4005072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</a:t>
            </a:r>
            <a:r>
              <a:rPr lang="en-US" sz="1100" dirty="0">
                <a:solidFill>
                  <a:srgbClr val="8E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# compile src/main.cu → ./benchmark
</a:t>
            </a:r>
            <a:r>
              <a:rPr lang="en-US" sz="11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./run.sh</a:t>
            </a:r>
            <a:r>
              <a:rPr lang="en-US" sz="1100" dirty="0">
                <a:solidFill>
                  <a:srgbClr val="8E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build → run → log to logs/execution_log.txt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6217920" y="914400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0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389888"/>
            <a:ext cx="256032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57200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1371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massively outperforms CPU for large-scale parallel workloads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048256"/>
            <a:ext cx="256032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7200" y="2048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20299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Multiplication yields the highest GPU speedup (~461×) due to high arithmetic intensity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706624"/>
            <a:ext cx="256032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57200" y="2706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268833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kernels &amp; CUDA Events ensure fair, reproducible benchmark results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364992"/>
            <a:ext cx="256032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57200" y="3364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" y="334670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inputs favor CPU — GPU overhead only pays off at scale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023360"/>
            <a:ext cx="256032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57200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22960" y="40050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is critical to unlocking GPU potential for reduction workloads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4663440"/>
            <a:ext cx="2011680" cy="31089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57200" y="46634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hlinkClick r:id="rId4"/>
              </a:rPr>
              <a:t>CUDA Advanced Libraries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780</Words>
  <Application>Microsoft Office PowerPoint</Application>
  <PresentationFormat>On-screen Show (16:9)</PresentationFormat>
  <Paragraphs>107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 vs CPU Benchmark Suite (CUDA)</dc:title>
  <dc:subject>PptxGenJS Presentation</dc:subject>
  <dc:creator>PptxGenJS</dc:creator>
  <cp:lastModifiedBy>Subham Maurya</cp:lastModifiedBy>
  <cp:revision>2</cp:revision>
  <dcterms:created xsi:type="dcterms:W3CDTF">2026-04-18T12:07:23Z</dcterms:created>
  <dcterms:modified xsi:type="dcterms:W3CDTF">2026-04-18T12:11:54Z</dcterms:modified>
</cp:coreProperties>
</file>